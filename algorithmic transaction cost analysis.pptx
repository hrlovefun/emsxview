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6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54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B4C2CA-7E2E-4182-891D-BFF1883827E1}" type="datetimeFigureOut">
              <a:rPr lang="en-HK" smtClean="0"/>
              <a:t>4/8/2026</a:t>
            </a:fld>
            <a:endParaRPr lang="en-H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EB15FB-851D-4B86-97A4-29CF3277D7D5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663935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5109407B-7E3E-4641-99EB-C14D4B21DBB2}" type="datetime1">
              <a:rPr lang="en-HK" smtClean="0"/>
              <a:t>4/8/2026</a:t>
            </a:fld>
            <a:endParaRPr lang="en-HK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>
            <a:lvl1pPr algn="ctr">
              <a:defRPr sz="28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 b="1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C2D97057-8471-4947-A406-19204E10F551}" type="slidenum">
              <a:rPr lang="en-HK" smtClean="0"/>
              <a:t>‹#›</a:t>
            </a:fld>
            <a:endParaRPr lang="en-HK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0895"/>
            <a:ext cx="3086725" cy="914400"/>
          </a:xfrm>
          <a:prstGeom prst="rect">
            <a:avLst/>
          </a:prstGeom>
        </p:spPr>
      </p:pic>
      <p:cxnSp>
        <p:nvCxnSpPr>
          <p:cNvPr id="10" name="Straight Connector 9"/>
          <p:cNvCxnSpPr>
            <a:stCxn id="9" idx="3"/>
          </p:cNvCxnSpPr>
          <p:nvPr/>
        </p:nvCxnSpPr>
        <p:spPr>
          <a:xfrm>
            <a:off x="3086725" y="628095"/>
            <a:ext cx="8902075" cy="0"/>
          </a:xfrm>
          <a:prstGeom prst="line">
            <a:avLst/>
          </a:prstGeom>
          <a:ln w="25400" cmpd="sng">
            <a:gradFill flip="none" rotWithShape="1"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9317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574448"/>
          </a:xfrm>
        </p:spPr>
        <p:txBody>
          <a:bodyPr/>
          <a:lstStyle>
            <a:lvl1pPr>
              <a:defRPr sz="2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994538"/>
            <a:ext cx="10972800" cy="5131625"/>
          </a:xfrm>
        </p:spPr>
        <p:txBody>
          <a:bodyPr>
            <a:normAutofit/>
          </a:bodyPr>
          <a:lstStyle>
            <a:lvl1pPr marL="257175" indent="-257175">
              <a:buFont typeface="Wingdings" panose="05000000000000000000" pitchFamily="2" charset="2"/>
              <a:buChar char="§"/>
              <a:defRPr sz="2000" u="none"/>
            </a:lvl1pPr>
            <a:lvl2pPr marL="557213" indent="-214313">
              <a:buFont typeface="Wingdings" panose="05000000000000000000" pitchFamily="2" charset="2"/>
              <a:buChar char="§"/>
              <a:defRPr sz="1800"/>
            </a:lvl2pPr>
            <a:lvl3pPr marL="857250" indent="-171450">
              <a:buFont typeface="Wingdings" panose="05000000000000000000" pitchFamily="2" charset="2"/>
              <a:buChar char="§"/>
              <a:defRPr sz="1800"/>
            </a:lvl3pPr>
            <a:lvl4pPr marL="1200150" indent="-171450">
              <a:buFont typeface="Wingdings" panose="05000000000000000000" pitchFamily="2" charset="2"/>
              <a:buChar char="§"/>
              <a:defRPr sz="1800"/>
            </a:lvl4pPr>
            <a:lvl5pPr marL="1543050" indent="-171450"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DDF0CDEB-0288-4C73-BFDF-5CD0B70BF0BB}" type="datetime1">
              <a:rPr lang="en-HK" smtClean="0"/>
              <a:t>4/8/2026</a:t>
            </a:fld>
            <a:endParaRPr lang="en-H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470400" y="6401505"/>
            <a:ext cx="2844800" cy="365125"/>
          </a:xfrm>
          <a:prstGeom prst="rect">
            <a:avLst/>
          </a:prstGeom>
        </p:spPr>
        <p:txBody>
          <a:bodyPr/>
          <a:lstStyle/>
          <a:p>
            <a:fld id="{C2D97057-8471-4947-A406-19204E10F551}" type="slidenum">
              <a:rPr lang="en-HK" smtClean="0"/>
              <a:t>‹#›</a:t>
            </a:fld>
            <a:endParaRPr lang="en-HK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5200" y="6242981"/>
            <a:ext cx="2032000" cy="601951"/>
          </a:xfrm>
          <a:prstGeom prst="rect">
            <a:avLst/>
          </a:prstGeom>
        </p:spPr>
      </p:pic>
      <p:cxnSp>
        <p:nvCxnSpPr>
          <p:cNvPr id="9" name="Straight Connector 8"/>
          <p:cNvCxnSpPr/>
          <p:nvPr/>
        </p:nvCxnSpPr>
        <p:spPr>
          <a:xfrm>
            <a:off x="203200" y="6256049"/>
            <a:ext cx="11684000" cy="0"/>
          </a:xfrm>
          <a:prstGeom prst="line">
            <a:avLst/>
          </a:prstGeom>
          <a:ln w="25400">
            <a:gradFill flip="none" rotWithShape="1"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9663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1800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307FBD4E-27AF-4147-8FC3-FBDAAFF80132}" type="datetime1">
              <a:rPr lang="en-HK" smtClean="0"/>
              <a:t>4/8/2026</a:t>
            </a:fld>
            <a:endParaRPr lang="en-H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5200" y="6237939"/>
            <a:ext cx="2032000" cy="601951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fld id="{C2D97057-8471-4947-A406-19204E10F551}" type="slidenum">
              <a:rPr lang="en-HK" smtClean="0"/>
              <a:t>‹#›</a:t>
            </a:fld>
            <a:endParaRPr lang="en-HK"/>
          </a:p>
        </p:txBody>
      </p:sp>
      <p:cxnSp>
        <p:nvCxnSpPr>
          <p:cNvPr id="8" name="Straight Connector 7"/>
          <p:cNvCxnSpPr/>
          <p:nvPr/>
        </p:nvCxnSpPr>
        <p:spPr>
          <a:xfrm>
            <a:off x="203200" y="6172200"/>
            <a:ext cx="11684000" cy="0"/>
          </a:xfrm>
          <a:prstGeom prst="line">
            <a:avLst/>
          </a:prstGeom>
          <a:ln w="25400">
            <a:gradFill flip="none" rotWithShape="1">
              <a:gsLst>
                <a:gs pos="100000">
                  <a:srgbClr val="BDD29F"/>
                </a:gs>
                <a:gs pos="0">
                  <a:srgbClr val="DDEBCF"/>
                </a:gs>
                <a:gs pos="50000">
                  <a:srgbClr val="156B13"/>
                </a:gs>
              </a:gsLst>
              <a:lin ang="2700000" scaled="0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57347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3CFA4097-4805-4569-A871-AD2812221AFF}" type="datetime1">
              <a:rPr lang="en-HK" smtClean="0"/>
              <a:t>4/8/2026</a:t>
            </a:fld>
            <a:endParaRPr lang="en-H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622800" y="6374462"/>
            <a:ext cx="2844800" cy="365125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C2D97057-8471-4947-A406-19204E10F551}" type="slidenum">
              <a:rPr lang="en-HK" smtClean="0"/>
              <a:t>‹#›</a:t>
            </a:fld>
            <a:endParaRPr lang="en-HK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9013" y="6256050"/>
            <a:ext cx="2032000" cy="601951"/>
          </a:xfrm>
          <a:prstGeom prst="rect">
            <a:avLst/>
          </a:prstGeom>
        </p:spPr>
      </p:pic>
      <p:cxnSp>
        <p:nvCxnSpPr>
          <p:cNvPr id="15" name="Straight Connector 14"/>
          <p:cNvCxnSpPr/>
          <p:nvPr/>
        </p:nvCxnSpPr>
        <p:spPr>
          <a:xfrm>
            <a:off x="203200" y="6256047"/>
            <a:ext cx="11684000" cy="0"/>
          </a:xfrm>
          <a:prstGeom prst="line">
            <a:avLst/>
          </a:prstGeom>
          <a:ln w="25400">
            <a:gradFill flip="none" rotWithShape="1"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09600" y="274640"/>
            <a:ext cx="10972800" cy="610733"/>
          </a:xfrm>
        </p:spPr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1880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895351"/>
            <a:ext cx="5386917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1535113"/>
            <a:ext cx="5386917" cy="4591050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895351"/>
            <a:ext cx="5389033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1535113"/>
            <a:ext cx="5389033" cy="4591050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CD1C043D-96B4-44E3-BFF6-F720BD2C6053}" type="datetime1">
              <a:rPr lang="en-HK" smtClean="0"/>
              <a:t>4/8/2026</a:t>
            </a:fld>
            <a:endParaRPr lang="en-H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C2D97057-8471-4947-A406-19204E10F551}" type="slidenum">
              <a:rPr lang="en-HK" smtClean="0"/>
              <a:t>‹#›</a:t>
            </a:fld>
            <a:endParaRPr lang="en-HK"/>
          </a:p>
        </p:txBody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574448"/>
          </a:xfrm>
        </p:spPr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33010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341BD68D-AF8D-4952-92DF-8AA70D387137}" type="datetime1">
              <a:rPr lang="en-HK" smtClean="0"/>
              <a:t>4/8/2026</a:t>
            </a:fld>
            <a:endParaRPr lang="en-H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C2D97057-8471-4947-A406-19204E10F551}" type="slidenum">
              <a:rPr lang="en-HK" smtClean="0"/>
              <a:t>‹#›</a:t>
            </a:fld>
            <a:endParaRPr lang="en-HK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574448"/>
          </a:xfrm>
        </p:spPr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037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5585CC6C-980F-427F-9417-447E671D62C3}" type="datetime1">
              <a:rPr lang="en-HK" smtClean="0"/>
              <a:t>4/8/2026</a:t>
            </a:fld>
            <a:endParaRPr lang="en-H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C2D97057-8471-4947-A406-19204E10F55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616386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21CD99C7-11D8-4E6B-A134-9B2BA7F86818}" type="datetime1">
              <a:rPr lang="en-HK" smtClean="0"/>
              <a:t>4/8/2026</a:t>
            </a:fld>
            <a:endParaRPr lang="en-H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C2D97057-8471-4947-A406-19204E10F55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249870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7C44BE0D-B4E8-4AD6-8FB1-30946B68E369}" type="datetime1">
              <a:rPr lang="en-HK" smtClean="0"/>
              <a:t>4/8/2026</a:t>
            </a:fld>
            <a:endParaRPr lang="en-H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C2D97057-8471-4947-A406-19204E10F55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401976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899889"/>
            <a:ext cx="10972800" cy="5226277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A2889A43-4008-410B-9A04-BFB7E873791C}" type="datetime1">
              <a:rPr lang="en-HK" smtClean="0"/>
              <a:t>4/8/2026</a:t>
            </a:fld>
            <a:endParaRPr lang="en-H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C2D97057-8471-4947-A406-19204E10F551}" type="slidenum">
              <a:rPr lang="en-HK" smtClean="0"/>
              <a:t>‹#›</a:t>
            </a:fld>
            <a:endParaRPr lang="en-HK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574448"/>
          </a:xfrm>
        </p:spPr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7739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19254B67-67B9-4A26-9A5D-5946C6C5E0D0}" type="datetime1">
              <a:rPr lang="en-HK" smtClean="0"/>
              <a:t>4/8/2026</a:t>
            </a:fld>
            <a:endParaRPr lang="en-H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C2D97057-8471-4947-A406-19204E10F55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2494198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9875C19C-A999-4750-9842-803FD77029DF}" type="datetime1">
              <a:rPr lang="en-HK" smtClean="0"/>
              <a:t>4/8/2026</a:t>
            </a:fld>
            <a:endParaRPr lang="en-H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C2D97057-8471-4947-A406-19204E10F55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3898213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622800" y="6374460"/>
            <a:ext cx="2844800" cy="365125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C2D97057-8471-4947-A406-19204E10F551}" type="slidenum">
              <a:rPr lang="en-HK" smtClean="0"/>
              <a:t>‹#›</a:t>
            </a:fld>
            <a:endParaRPr lang="en-HK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9013" y="6256048"/>
            <a:ext cx="2032000" cy="601951"/>
          </a:xfrm>
          <a:prstGeom prst="rect">
            <a:avLst/>
          </a:prstGeom>
        </p:spPr>
      </p:pic>
      <p:cxnSp>
        <p:nvCxnSpPr>
          <p:cNvPr id="15" name="Straight Connector 14"/>
          <p:cNvCxnSpPr/>
          <p:nvPr/>
        </p:nvCxnSpPr>
        <p:spPr>
          <a:xfrm>
            <a:off x="203200" y="6256047"/>
            <a:ext cx="11684000" cy="0"/>
          </a:xfrm>
          <a:prstGeom prst="line">
            <a:avLst/>
          </a:prstGeom>
          <a:ln w="25400">
            <a:gradFill flip="none" rotWithShape="1"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61073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903189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895351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1535113"/>
            <a:ext cx="5386917" cy="45910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895351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1535113"/>
            <a:ext cx="5389033" cy="45910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C2D97057-8471-4947-A406-19204E10F551}" type="slidenum">
              <a:rPr lang="en-HK" smtClean="0"/>
              <a:t>‹#›</a:t>
            </a:fld>
            <a:endParaRPr lang="en-HK"/>
          </a:p>
        </p:txBody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5744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7372768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C2D97057-8471-4947-A406-19204E10F551}" type="slidenum">
              <a:rPr lang="en-HK" smtClean="0"/>
              <a:t>‹#›</a:t>
            </a:fld>
            <a:endParaRPr lang="en-HK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5744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432446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899887"/>
            <a:ext cx="10972800" cy="5226277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C2D97057-8471-4947-A406-19204E10F551}" type="slidenum">
              <a:rPr lang="en-HK" smtClean="0"/>
              <a:t>‹#›</a:t>
            </a:fld>
            <a:endParaRPr lang="en-HK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5744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2033040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52869"/>
            <a:ext cx="10972800" cy="31319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645889"/>
            <a:ext cx="10972800" cy="54802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HK"/>
          </a:p>
        </p:txBody>
      </p:sp>
      <p:sp>
        <p:nvSpPr>
          <p:cNvPr id="7" name="Slide Number Placeholder 5"/>
          <p:cNvSpPr txBox="1">
            <a:spLocks/>
          </p:cNvSpPr>
          <p:nvPr/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610600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D97057-8471-4947-A406-19204E10F551}" type="slidenum">
              <a:rPr lang="en-HK" smtClean="0"/>
              <a:t>‹#›</a:t>
            </a:fld>
            <a:endParaRPr lang="en-HK"/>
          </a:p>
        </p:txBody>
      </p:sp>
      <p:sp>
        <p:nvSpPr>
          <p:cNvPr id="8" name="Slide Number Placeholder 5"/>
          <p:cNvSpPr txBox="1">
            <a:spLocks/>
          </p:cNvSpPr>
          <p:nvPr/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83530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  <p:sldLayoutId id="2147483722" r:id="rId6"/>
    <p:sldLayoutId id="2147483723" r:id="rId7"/>
    <p:sldLayoutId id="2147483724" r:id="rId8"/>
    <p:sldLayoutId id="2147483725" r:id="rId9"/>
    <p:sldLayoutId id="2147483726" r:id="rId10"/>
    <p:sldLayoutId id="2147483727" r:id="rId11"/>
    <p:sldLayoutId id="2147483728" r:id="rId12"/>
    <p:sldLayoutId id="2147483729" r:id="rId13"/>
    <p:sldLayoutId id="2147483730" r:id="rId14"/>
    <p:sldLayoutId id="2147483731" r:id="rId15"/>
    <p:sldLayoutId id="2147483732" r:id="rId16"/>
  </p:sldLayoutIdLst>
  <p:hf hdr="0" ftr="0" dt="0"/>
  <p:txStyles>
    <p:titleStyle>
      <a:lvl1pPr algn="l" defTabSz="685800" rtl="0" eaLnBrk="1" latinLnBrk="0" hangingPunct="1"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685800" rtl="0" eaLnBrk="1" latinLnBrk="0" hangingPunct="1">
        <a:spcBef>
          <a:spcPct val="20000"/>
        </a:spcBef>
        <a:buFont typeface="Wingdings" panose="05000000000000000000" pitchFamily="2" charset="2"/>
        <a:buChar char="§"/>
        <a:defRPr sz="2000" u="none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685800" rtl="0" eaLnBrk="1" latinLnBrk="0" hangingPunct="1">
        <a:spcBef>
          <a:spcPct val="20000"/>
        </a:spcBef>
        <a:buFont typeface="Wingdings" panose="05000000000000000000" pitchFamily="2" charset="2"/>
        <a:buChar char="§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spcBef>
          <a:spcPct val="200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spcBef>
          <a:spcPct val="20000"/>
        </a:spcBef>
        <a:buFont typeface="Wingdings" panose="05000000000000000000" pitchFamily="2" charset="2"/>
        <a:buChar char="§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spcBef>
          <a:spcPct val="200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HK" dirty="0"/>
              <a:t>Algorithmic Transaction 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CHEN Hongru</a:t>
            </a:r>
            <a:br>
              <a:rPr lang="en-US" dirty="0"/>
            </a:br>
            <a:r>
              <a:rPr lang="en-US" dirty="0"/>
              <a:t>2026, </a:t>
            </a:r>
            <a:r>
              <a:rPr lang="en-US" altLang="zh-CN" dirty="0"/>
              <a:t>September</a:t>
            </a:r>
            <a:endParaRPr lang="en-H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97057-8471-4947-A406-19204E10F551}" type="slidenum">
              <a:rPr lang="en-HK" smtClean="0"/>
              <a:t>1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6637667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  <a:endParaRPr lang="en-H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HK" dirty="0"/>
              <a:t>Implement shortfall</a:t>
            </a:r>
          </a:p>
          <a:p>
            <a:r>
              <a:rPr lang="en-HK" dirty="0"/>
              <a:t>Benchmark</a:t>
            </a:r>
          </a:p>
          <a:p>
            <a:r>
              <a:rPr lang="en-HK" dirty="0"/>
              <a:t>Evaluating performance</a:t>
            </a:r>
          </a:p>
          <a:p>
            <a:r>
              <a:rPr lang="en-HK" dirty="0"/>
              <a:t>Comparing algorithms</a:t>
            </a:r>
          </a:p>
          <a:p>
            <a:r>
              <a:rPr lang="en-HK" dirty="0"/>
              <a:t>Appendix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97057-8471-4947-A406-19204E10F551}" type="slidenum">
              <a:rPr lang="en-HK" smtClean="0"/>
              <a:t>2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432556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97057-8471-4947-A406-19204E10F551}" type="slidenum">
              <a:rPr lang="en-HK" smtClean="0"/>
              <a:t>3</a:t>
            </a:fld>
            <a:endParaRPr lang="en-HK" dirty="0"/>
          </a:p>
        </p:txBody>
      </p:sp>
      <p:sp>
        <p:nvSpPr>
          <p:cNvPr id="6" name="TextBox 5"/>
          <p:cNvSpPr txBox="1"/>
          <p:nvPr/>
        </p:nvSpPr>
        <p:spPr>
          <a:xfrm>
            <a:off x="609600" y="6271615"/>
            <a:ext cx="1229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K" i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7317097"/>
      </p:ext>
    </p:extLst>
  </p:cSld>
  <p:clrMapOvr>
    <a:masterClrMapping/>
  </p:clrMapOvr>
</p:sld>
</file>

<file path=ppt/theme/theme1.xml><?xml version="1.0" encoding="utf-8"?>
<a:theme xmlns:a="http://schemas.openxmlformats.org/drawingml/2006/main" name="Theme_SICL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_SICL" id="{4597551A-96EC-4196-92C3-78129B88ED03}" vid="{15A376E1-B9A1-4C38-A90A-D25B204E2A2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Theme_SICL - Modification1</Template>
  <TotalTime>1166</TotalTime>
  <Words>23</Words>
  <Application>Microsoft Office PowerPoint</Application>
  <PresentationFormat>Widescreen</PresentationFormat>
  <Paragraphs>12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Wingdings</vt:lpstr>
      <vt:lpstr>Theme_SICL</vt:lpstr>
      <vt:lpstr>Algorithmic Transaction Cost Analysis</vt:lpstr>
      <vt:lpstr>Outline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Chen Hongru</dc:creator>
  <cp:lastModifiedBy>Chen Hongru</cp:lastModifiedBy>
  <cp:revision>19</cp:revision>
  <dcterms:created xsi:type="dcterms:W3CDTF">2022-11-17T07:41:25Z</dcterms:created>
  <dcterms:modified xsi:type="dcterms:W3CDTF">2026-08-05T04:02:08Z</dcterms:modified>
</cp:coreProperties>
</file>